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1101bff-2f98-a81f-dfd2-cc98fd06035c}">
          <p14:sldIdLst>
            <p14:sldId id="256"/>
            <p14:sldId id="257"/>
            <p14:sldId id="258"/>
          </p14:sldIdLst>
        </p14:section>
        <p14:section name="Course Outcomes" id="{592e3e8f-a1b2-6b9a-d9a5-f5d921800ca8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losing" id="{3fd1fb87-e220-e0fe-7ab5-e65f3f48e549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Hotel Booking Occupancy Manager, Team 18, Section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statement, inputs, outputs and the workflow of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CO1: Java basics used — data types, operators, Scanner input, type promotion.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CO2: Selection and iteration — if, if/else, while,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CO3: Methods, overloading and arrays.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CO4: OOP — classes, constructors, inheritance, overriding, polymorphism.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CO5: String class and its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CO6: Exception handling with try/catch.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and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Screenshots: project poster and a sample console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Geo-tagged photo to be added on the left; GitHub repository link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l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1097280" cy="8156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15-10-2026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114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01752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l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868680" cy="6455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15-10-2026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rijannnn-11/KLH-PSPJAVA-S14-T18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mp"/>
          <p:cNvSpPr txBox="1"/>
          <p:nvPr/>
        </p:nvSpPr>
        <p:spPr>
          <a:xfrm rot="-120000">
            <a:off x="6949440" y="365760"/>
            <a:ext cx="182880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PBL · JAVA · TEAM 18</a:t>
            </a:r>
            <a:endParaRPr lang="en-US" sz="800" dirty="0"/>
          </a:p>
        </p:txBody>
      </p:sp>
      <p:sp>
        <p:nvSpPr>
          <p:cNvPr id="3" name="kicker"/>
          <p:cNvSpPr txBox="1"/>
          <p:nvPr/>
        </p:nvSpPr>
        <p:spPr>
          <a:xfrm>
            <a:off x="4114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26SC1101E — PROBLEM SOLVING THROUGH PROGRAMMING (JAVA) · SECTION 14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1148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Hotel Booking Occupancy
</a:t>
            </a:r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Manager</a:t>
            </a: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0175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console Java application that validates guest details, prices a stay by room category and prints a booking summary.</a:t>
            </a:r>
            <a:endParaRPr lang="en-US" sz="1300" dirty="0"/>
          </a:p>
        </p:txBody>
      </p:sp>
      <p:sp>
        <p:nvSpPr>
          <p:cNvPr id="6" name="rule"/>
          <p:cNvSpPr/>
          <p:nvPr/>
        </p:nvSpPr>
        <p:spPr>
          <a:xfrm>
            <a:off x="411480" y="3657600"/>
            <a:ext cx="475488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7" name="label TEAM 18"/>
          <p:cNvSpPr txBox="1"/>
          <p:nvPr/>
        </p:nvSpPr>
        <p:spPr>
          <a:xfrm>
            <a:off x="411480" y="3749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18</a:t>
            </a:r>
            <a:endParaRPr lang="en-US" sz="900" dirty="0"/>
          </a:p>
        </p:txBody>
      </p:sp>
      <p:sp>
        <p:nvSpPr>
          <p:cNvPr id="8" name="member 1"/>
          <p:cNvSpPr txBox="1"/>
          <p:nvPr/>
        </p:nvSpPr>
        <p:spPr>
          <a:xfrm>
            <a:off x="1463040" y="3749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Srijan</a:t>
            </a:r>
            <a:endParaRPr lang="en-US" sz="1300" dirty="0"/>
          </a:p>
        </p:txBody>
      </p:sp>
      <p:sp>
        <p:nvSpPr>
          <p:cNvPr id="9" name="roll 1"/>
          <p:cNvSpPr txBox="1"/>
          <p:nvPr/>
        </p:nvSpPr>
        <p:spPr>
          <a:xfrm>
            <a:off x="292608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2620030689</a:t>
            </a:r>
            <a:endParaRPr lang="en-US" sz="1200" dirty="0"/>
          </a:p>
        </p:txBody>
      </p:sp>
      <p:sp>
        <p:nvSpPr>
          <p:cNvPr id="10" name="member 2"/>
          <p:cNvSpPr txBox="1"/>
          <p:nvPr/>
        </p:nvSpPr>
        <p:spPr>
          <a:xfrm>
            <a:off x="1463040" y="4059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Sudheer</a:t>
            </a:r>
            <a:endParaRPr lang="en-US" sz="1300" dirty="0"/>
          </a:p>
        </p:txBody>
      </p:sp>
      <p:sp>
        <p:nvSpPr>
          <p:cNvPr id="11" name="roll 2"/>
          <p:cNvSpPr txBox="1"/>
          <p:nvPr/>
        </p:nvSpPr>
        <p:spPr>
          <a:xfrm>
            <a:off x="2926080" y="4059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2620090081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Abstract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 01</a:t>
            </a:r>
            <a:endParaRPr lang="en-US" sz="800" dirty="0"/>
          </a:p>
        </p:txBody>
      </p:sp>
      <p:sp>
        <p:nvSpPr>
          <p:cNvPr id="4" name="abstract text"/>
          <p:cNvSpPr txBox="1"/>
          <p:nvPr/>
        </p:nvSpPr>
        <p:spPr>
          <a:xfrm>
            <a:off x="411480" y="10515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Hotel Booking Occupancy Manager is a console-based Java application that simulates the front desk of a hotel. It records a guest's name and 12-digit Aadhaar number, validates the length of stay, presents four room categories (Basic, Luxury, Deluxe and Platinum) and computes the total bill for the booking.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Rooms are modelled as objects: a Room parent class holds the type and nightly price, while a LuxuryRoom subclass overrides the billing method to apply an automatic 10% discount. Overloaded methods, arrays, loops, String operations and exception handling for invalid input bring together every module of the course in one practical program.</a:t>
            </a:r>
            <a:endParaRPr lang="en-US" sz="1300" dirty="0"/>
          </a:p>
        </p:txBody>
      </p:sp>
      <p:sp>
        <p:nvSpPr>
          <p:cNvPr id="5" name="stat card"/>
          <p:cNvSpPr/>
          <p:nvPr/>
        </p:nvSpPr>
        <p:spPr>
          <a:xfrm>
            <a:off x="5715000" y="1051560"/>
            <a:ext cx="3017520" cy="1005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" name="stat value"/>
          <p:cNvSpPr txBox="1"/>
          <p:nvPr/>
        </p:nvSpPr>
        <p:spPr>
          <a:xfrm>
            <a:off x="5852160" y="1161288"/>
            <a:ext cx="2743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400" dirty="0"/>
          </a:p>
        </p:txBody>
      </p:sp>
      <p:sp>
        <p:nvSpPr>
          <p:cNvPr id="7" name="stat label"/>
          <p:cNvSpPr txBox="1"/>
          <p:nvPr/>
        </p:nvSpPr>
        <p:spPr>
          <a:xfrm>
            <a:off x="5852160" y="1696212"/>
            <a:ext cx="27432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room categories with a nightly price each</a:t>
            </a:r>
            <a:endParaRPr lang="en-US" sz="1000" dirty="0"/>
          </a:p>
        </p:txBody>
      </p:sp>
      <p:sp>
        <p:nvSpPr>
          <p:cNvPr id="8" name="stat card"/>
          <p:cNvSpPr/>
          <p:nvPr/>
        </p:nvSpPr>
        <p:spPr>
          <a:xfrm>
            <a:off x="5715000" y="2240280"/>
            <a:ext cx="3017520" cy="1005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stat value"/>
          <p:cNvSpPr txBox="1"/>
          <p:nvPr/>
        </p:nvSpPr>
        <p:spPr>
          <a:xfrm>
            <a:off x="5852160" y="2350008"/>
            <a:ext cx="2743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2400" dirty="0"/>
          </a:p>
        </p:txBody>
      </p:sp>
      <p:sp>
        <p:nvSpPr>
          <p:cNvPr id="10" name="stat label"/>
          <p:cNvSpPr txBox="1"/>
          <p:nvPr/>
        </p:nvSpPr>
        <p:spPr>
          <a:xfrm>
            <a:off x="5852160" y="2884932"/>
            <a:ext cx="27432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automatic discount on Luxury rooms via method overriding</a:t>
            </a:r>
            <a:endParaRPr lang="en-US" sz="1000" dirty="0"/>
          </a:p>
        </p:txBody>
      </p:sp>
      <p:sp>
        <p:nvSpPr>
          <p:cNvPr id="11" name="stat card"/>
          <p:cNvSpPr/>
          <p:nvPr/>
        </p:nvSpPr>
        <p:spPr>
          <a:xfrm>
            <a:off x="5715000" y="3429000"/>
            <a:ext cx="3017520" cy="1005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stat value"/>
          <p:cNvSpPr txBox="1"/>
          <p:nvPr/>
        </p:nvSpPr>
        <p:spPr>
          <a:xfrm>
            <a:off x="5852160" y="3538728"/>
            <a:ext cx="2743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400" dirty="0"/>
          </a:p>
        </p:txBody>
      </p:sp>
      <p:sp>
        <p:nvSpPr>
          <p:cNvPr id="13" name="stat label"/>
          <p:cNvSpPr txBox="1"/>
          <p:nvPr/>
        </p:nvSpPr>
        <p:spPr>
          <a:xfrm>
            <a:off x="5852160" y="4073652"/>
            <a:ext cx="27432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digit Aadhaar check before a booking is accepted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Understanding Problem Statement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 02</a:t>
            </a:r>
            <a:endParaRPr lang="en-US" sz="800" dirty="0"/>
          </a:p>
        </p:txBody>
      </p:sp>
      <p:sp>
        <p:nvSpPr>
          <p:cNvPr id="4" name="label THE PROBLEM"/>
          <p:cNvSpPr txBox="1"/>
          <p:nvPr/>
        </p:nvSpPr>
        <p:spPr>
          <a:xfrm>
            <a:off x="41148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problem text"/>
          <p:cNvSpPr txBox="1"/>
          <p:nvPr/>
        </p:nvSpPr>
        <p:spPr>
          <a:xfrm>
            <a:off x="411480" y="1325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small hotel needs a quick way to register a walk-in guest, verify identity, let the guest pick a room category and produce an accurate bill — without manual calculation errors and without accepting bad input such as an invalid ID, zero days or a non-numeric choice.</a:t>
            </a:r>
            <a:endParaRPr lang="en-US" sz="1250" dirty="0"/>
          </a:p>
        </p:txBody>
      </p:sp>
      <p:sp>
        <p:nvSpPr>
          <p:cNvPr id="6" name="label INPUTS"/>
          <p:cNvSpPr txBox="1"/>
          <p:nvPr/>
        </p:nvSpPr>
        <p:spPr>
          <a:xfrm>
            <a:off x="41148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endParaRPr lang="en-US" sz="900" dirty="0"/>
          </a:p>
        </p:txBody>
      </p:sp>
      <p:sp>
        <p:nvSpPr>
          <p:cNvPr id="7" name="bullets"/>
          <p:cNvSpPr txBox="1"/>
          <p:nvPr/>
        </p:nvSpPr>
        <p:spPr>
          <a:xfrm>
            <a:off x="411480" y="31546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Guest name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Aadhaar number (12 digits)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Number of days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Room choice (1–4)</a:t>
            </a:r>
            <a:endParaRPr lang="en-US" sz="1150" dirty="0"/>
          </a:p>
        </p:txBody>
      </p:sp>
      <p:sp>
        <p:nvSpPr>
          <p:cNvPr id="8" name="label OUTPUTS"/>
          <p:cNvSpPr txBox="1"/>
          <p:nvPr/>
        </p:nvSpPr>
        <p:spPr>
          <a:xfrm>
            <a:off x="251460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</a:t>
            </a:r>
            <a:endParaRPr lang="en-US" sz="900" dirty="0"/>
          </a:p>
        </p:txBody>
      </p:sp>
      <p:sp>
        <p:nvSpPr>
          <p:cNvPr id="9" name="bullets"/>
          <p:cNvSpPr txBox="1"/>
          <p:nvPr/>
        </p:nvSpPr>
        <p:spPr>
          <a:xfrm>
            <a:off x="2514600" y="31546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Room menu with prices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Validation messages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Booking summary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Total bill in Rs.</a:t>
            </a:r>
            <a:endParaRPr lang="en-US" sz="1150" dirty="0"/>
          </a:p>
        </p:txBody>
      </p:sp>
      <p:sp>
        <p:nvSpPr>
          <p:cNvPr id="10" name="label SYSTEM WORKFLOW"/>
          <p:cNvSpPr txBox="1"/>
          <p:nvPr/>
        </p:nvSpPr>
        <p:spPr>
          <a:xfrm>
            <a:off x="498348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WORKFLOW</a:t>
            </a:r>
            <a:endParaRPr lang="en-US" sz="900" dirty="0"/>
          </a:p>
        </p:txBody>
      </p:sp>
      <p:sp>
        <p:nvSpPr>
          <p:cNvPr id="11" name="step card"/>
          <p:cNvSpPr/>
          <p:nvPr/>
        </p:nvSpPr>
        <p:spPr>
          <a:xfrm>
            <a:off x="4983480" y="1399032"/>
            <a:ext cx="3749040" cy="5120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step no"/>
          <p:cNvSpPr txBox="1"/>
          <p:nvPr/>
        </p:nvSpPr>
        <p:spPr>
          <a:xfrm>
            <a:off x="5120640" y="139903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step name"/>
          <p:cNvSpPr txBox="1"/>
          <p:nvPr/>
        </p:nvSpPr>
        <p:spPr>
          <a:xfrm>
            <a:off x="5577840" y="13990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Guest input</a:t>
            </a:r>
            <a:endParaRPr lang="en-US" sz="1250" dirty="0"/>
          </a:p>
        </p:txBody>
      </p:sp>
      <p:sp>
        <p:nvSpPr>
          <p:cNvPr id="14" name="step detail"/>
          <p:cNvSpPr txBox="1"/>
          <p:nvPr/>
        </p:nvSpPr>
        <p:spPr>
          <a:xfrm>
            <a:off x="7040880" y="13990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Aadhaar, days</a:t>
            </a:r>
            <a:endParaRPr lang="en-US" sz="900" dirty="0"/>
          </a:p>
        </p:txBody>
      </p:sp>
      <p:sp>
        <p:nvSpPr>
          <p:cNvPr id="15" name="step card"/>
          <p:cNvSpPr/>
          <p:nvPr/>
        </p:nvSpPr>
        <p:spPr>
          <a:xfrm>
            <a:off x="4983480" y="2020824"/>
            <a:ext cx="3749040" cy="5120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step no"/>
          <p:cNvSpPr txBox="1"/>
          <p:nvPr/>
        </p:nvSpPr>
        <p:spPr>
          <a:xfrm>
            <a:off x="5120640" y="202082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step name"/>
          <p:cNvSpPr txBox="1"/>
          <p:nvPr/>
        </p:nvSpPr>
        <p:spPr>
          <a:xfrm>
            <a:off x="5577840" y="20208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Validate</a:t>
            </a:r>
            <a:endParaRPr lang="en-US" sz="1250" dirty="0"/>
          </a:p>
        </p:txBody>
      </p:sp>
      <p:sp>
        <p:nvSpPr>
          <p:cNvPr id="18" name="step detail"/>
          <p:cNvSpPr txBox="1"/>
          <p:nvPr/>
        </p:nvSpPr>
        <p:spPr>
          <a:xfrm>
            <a:off x="7040880" y="20208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&amp; range checks</a:t>
            </a:r>
            <a:endParaRPr lang="en-US" sz="900" dirty="0"/>
          </a:p>
        </p:txBody>
      </p:sp>
      <p:sp>
        <p:nvSpPr>
          <p:cNvPr id="19" name="step card"/>
          <p:cNvSpPr/>
          <p:nvPr/>
        </p:nvSpPr>
        <p:spPr>
          <a:xfrm>
            <a:off x="4983480" y="2642616"/>
            <a:ext cx="3749040" cy="5120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step no"/>
          <p:cNvSpPr txBox="1"/>
          <p:nvPr/>
        </p:nvSpPr>
        <p:spPr>
          <a:xfrm>
            <a:off x="5120640" y="264261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tep name"/>
          <p:cNvSpPr txBox="1"/>
          <p:nvPr/>
        </p:nvSpPr>
        <p:spPr>
          <a:xfrm>
            <a:off x="5577840" y="264261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Choose room</a:t>
            </a:r>
            <a:endParaRPr lang="en-US" sz="1250" dirty="0"/>
          </a:p>
        </p:txBody>
      </p:sp>
      <p:sp>
        <p:nvSpPr>
          <p:cNvPr id="22" name="step detail"/>
          <p:cNvSpPr txBox="1"/>
          <p:nvPr/>
        </p:nvSpPr>
        <p:spPr>
          <a:xfrm>
            <a:off x="7040880" y="264261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 from arrays</a:t>
            </a:r>
            <a:endParaRPr lang="en-US" sz="900" dirty="0"/>
          </a:p>
        </p:txBody>
      </p:sp>
      <p:sp>
        <p:nvSpPr>
          <p:cNvPr id="23" name="step card"/>
          <p:cNvSpPr/>
          <p:nvPr/>
        </p:nvSpPr>
        <p:spPr>
          <a:xfrm>
            <a:off x="4983480" y="3264408"/>
            <a:ext cx="3749040" cy="5120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step no"/>
          <p:cNvSpPr txBox="1"/>
          <p:nvPr/>
        </p:nvSpPr>
        <p:spPr>
          <a:xfrm>
            <a:off x="5120640" y="326440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step name"/>
          <p:cNvSpPr txBox="1"/>
          <p:nvPr/>
        </p:nvSpPr>
        <p:spPr>
          <a:xfrm>
            <a:off x="5577840" y="32644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Create object</a:t>
            </a:r>
            <a:endParaRPr lang="en-US" sz="1250" dirty="0"/>
          </a:p>
        </p:txBody>
      </p:sp>
      <p:sp>
        <p:nvSpPr>
          <p:cNvPr id="26" name="step detail"/>
          <p:cNvSpPr txBox="1"/>
          <p:nvPr/>
        </p:nvSpPr>
        <p:spPr>
          <a:xfrm>
            <a:off x="7040880" y="32644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/ LuxuryRoom</a:t>
            </a:r>
            <a:endParaRPr lang="en-US" sz="900" dirty="0"/>
          </a:p>
        </p:txBody>
      </p:sp>
      <p:sp>
        <p:nvSpPr>
          <p:cNvPr id="27" name="step card"/>
          <p:cNvSpPr/>
          <p:nvPr/>
        </p:nvSpPr>
        <p:spPr>
          <a:xfrm>
            <a:off x="4983480" y="3886200"/>
            <a:ext cx="3749040" cy="5120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8" name="step no"/>
          <p:cNvSpPr txBox="1"/>
          <p:nvPr/>
        </p:nvSpPr>
        <p:spPr>
          <a:xfrm>
            <a:off x="5120640" y="388620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step name"/>
          <p:cNvSpPr txBox="1"/>
          <p:nvPr/>
        </p:nvSpPr>
        <p:spPr>
          <a:xfrm>
            <a:off x="5577840" y="38862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Bill &amp; summary</a:t>
            </a:r>
            <a:endParaRPr lang="en-US" sz="1250" dirty="0"/>
          </a:p>
        </p:txBody>
      </p:sp>
      <p:sp>
        <p:nvSpPr>
          <p:cNvPr id="30" name="step detail"/>
          <p:cNvSpPr txBox="1"/>
          <p:nvPr/>
        </p:nvSpPr>
        <p:spPr>
          <a:xfrm>
            <a:off x="7040880" y="388620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calculateBill(days)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 1 Topics — Java Fundamentals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1 · MODULE 1</a:t>
            </a:r>
            <a:endParaRPr lang="en-US" sz="800" dirty="0"/>
          </a:p>
        </p:txBody>
      </p:sp>
      <p:sp>
        <p:nvSpPr>
          <p:cNvPr id="4" name="label TOPICS USED IN THE PROJECT"/>
          <p:cNvSpPr txBox="1"/>
          <p:nvPr/>
        </p:nvSpPr>
        <p:spPr>
          <a:xfrm>
            <a:off x="41148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TOPICS USED IN THE PROJECT</a:t>
            </a:r>
            <a:endParaRPr lang="en-US" sz="900" dirty="0"/>
          </a:p>
        </p:txBody>
      </p:sp>
      <p:sp>
        <p:nvSpPr>
          <p:cNvPr id="5" name="row no"/>
          <p:cNvSpPr txBox="1"/>
          <p:nvPr/>
        </p:nvSpPr>
        <p:spPr>
          <a:xfrm>
            <a:off x="411480" y="1371600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row text"/>
          <p:cNvSpPr txBox="1"/>
          <p:nvPr/>
        </p:nvSpPr>
        <p:spPr>
          <a:xfrm>
            <a:off x="822960" y="137160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Data types &amp; variables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String name, int price, int days, double bill</a:t>
            </a:r>
            <a:endParaRPr lang="en-US" sz="1250" dirty="0"/>
          </a:p>
        </p:txBody>
      </p:sp>
      <p:sp>
        <p:nvSpPr>
          <p:cNvPr id="7" name="rule"/>
          <p:cNvSpPr/>
          <p:nvPr/>
        </p:nvSpPr>
        <p:spPr>
          <a:xfrm>
            <a:off x="411480" y="1965960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8" name="row no"/>
          <p:cNvSpPr txBox="1"/>
          <p:nvPr/>
        </p:nvSpPr>
        <p:spPr>
          <a:xfrm>
            <a:off x="411480" y="200253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row text"/>
          <p:cNvSpPr txBox="1"/>
          <p:nvPr/>
        </p:nvSpPr>
        <p:spPr>
          <a:xfrm>
            <a:off x="822960" y="2002536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Operators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arithmetic (*, -, /), relational (&lt;, &gt;, &lt;=), logical (||)</a:t>
            </a:r>
            <a:endParaRPr lang="en-US" sz="1250" dirty="0"/>
          </a:p>
        </p:txBody>
      </p:sp>
      <p:sp>
        <p:nvSpPr>
          <p:cNvPr id="10" name="rule"/>
          <p:cNvSpPr/>
          <p:nvPr/>
        </p:nvSpPr>
        <p:spPr>
          <a:xfrm>
            <a:off x="411480" y="2596896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1" name="row no"/>
          <p:cNvSpPr txBox="1"/>
          <p:nvPr/>
        </p:nvSpPr>
        <p:spPr>
          <a:xfrm>
            <a:off x="411480" y="2633472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row text"/>
          <p:cNvSpPr txBox="1"/>
          <p:nvPr/>
        </p:nvSpPr>
        <p:spPr>
          <a:xfrm>
            <a:off x="822960" y="2633472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Scanner input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nextLine() for text, nextInt() for numbers</a:t>
            </a:r>
            <a:endParaRPr lang="en-US" sz="1250" dirty="0"/>
          </a:p>
        </p:txBody>
      </p:sp>
      <p:sp>
        <p:nvSpPr>
          <p:cNvPr id="13" name="rule"/>
          <p:cNvSpPr/>
          <p:nvPr/>
        </p:nvSpPr>
        <p:spPr>
          <a:xfrm>
            <a:off x="411480" y="3227832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4" name="row no"/>
          <p:cNvSpPr txBox="1"/>
          <p:nvPr/>
        </p:nvSpPr>
        <p:spPr>
          <a:xfrm>
            <a:off x="411480" y="3264408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row text"/>
          <p:cNvSpPr txBox="1"/>
          <p:nvPr/>
        </p:nvSpPr>
        <p:spPr>
          <a:xfrm>
            <a:off x="822960" y="3264408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Type casting / promotion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dividing by 100.0 promotes int math to double</a:t>
            </a:r>
            <a:endParaRPr lang="en-US" sz="1250" dirty="0"/>
          </a:p>
        </p:txBody>
      </p:sp>
      <p:sp>
        <p:nvSpPr>
          <p:cNvPr id="16" name="rule"/>
          <p:cNvSpPr/>
          <p:nvPr/>
        </p:nvSpPr>
        <p:spPr>
          <a:xfrm>
            <a:off x="411480" y="3858768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7" name="row no"/>
          <p:cNvSpPr txBox="1"/>
          <p:nvPr/>
        </p:nvSpPr>
        <p:spPr>
          <a:xfrm>
            <a:off x="411480" y="3895344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row text"/>
          <p:cNvSpPr txBox="1"/>
          <p:nvPr/>
        </p:nvSpPr>
        <p:spPr>
          <a:xfrm>
            <a:off x="822960" y="3895344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Formatted output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System.out.println() for menu and summary</a:t>
            </a:r>
            <a:endParaRPr lang="en-US" sz="1250" dirty="0"/>
          </a:p>
        </p:txBody>
      </p:sp>
      <p:sp>
        <p:nvSpPr>
          <p:cNvPr id="19" name="label FROM THE CODE"/>
          <p:cNvSpPr txBox="1"/>
          <p:nvPr/>
        </p:nvSpPr>
        <p:spPr>
          <a:xfrm>
            <a:off x="438912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CODE</a:t>
            </a:r>
            <a:endParaRPr lang="en-US" sz="900" dirty="0"/>
          </a:p>
        </p:txBody>
      </p:sp>
      <p:sp>
        <p:nvSpPr>
          <p:cNvPr id="20" name="code card"/>
          <p:cNvSpPr/>
          <p:nvPr/>
        </p:nvSpPr>
        <p:spPr>
          <a:xfrm>
            <a:off x="4389120" y="1371600"/>
            <a:ext cx="4343400" cy="239115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code"/>
          <p:cNvSpPr txBox="1"/>
          <p:nvPr/>
        </p:nvSpPr>
        <p:spPr>
          <a:xfrm>
            <a:off x="4526280" y="1481328"/>
            <a:ext cx="406908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 sc = new Scanner(System.in);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System.out.print("Enter your name: 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sc.nextLine();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System.out.print("Number of days: 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days = sc.nextInt();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price = 2000;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bill = price * days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* (100 - discount) / 100.0;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System.out.println("Days      : " + days);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 2 Topics — Control Flow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2 · MODULE 2</a:t>
            </a:r>
            <a:endParaRPr lang="en-US" sz="800" dirty="0"/>
          </a:p>
        </p:txBody>
      </p:sp>
      <p:sp>
        <p:nvSpPr>
          <p:cNvPr id="4" name="label TOPICS USED IN THE PROJECT"/>
          <p:cNvSpPr txBox="1"/>
          <p:nvPr/>
        </p:nvSpPr>
        <p:spPr>
          <a:xfrm>
            <a:off x="41148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TOPICS USED IN THE PROJECT</a:t>
            </a:r>
            <a:endParaRPr lang="en-US" sz="900" dirty="0"/>
          </a:p>
        </p:txBody>
      </p:sp>
      <p:sp>
        <p:nvSpPr>
          <p:cNvPr id="5" name="row no"/>
          <p:cNvSpPr txBox="1"/>
          <p:nvPr/>
        </p:nvSpPr>
        <p:spPr>
          <a:xfrm>
            <a:off x="411480" y="1371600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row text"/>
          <p:cNvSpPr txBox="1"/>
          <p:nvPr/>
        </p:nvSpPr>
        <p:spPr>
          <a:xfrm>
            <a:off x="822960" y="137160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if statement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rejects an Aadhaar number that is not 12 characters</a:t>
            </a:r>
            <a:endParaRPr lang="en-US" sz="1250" dirty="0"/>
          </a:p>
        </p:txBody>
      </p:sp>
      <p:sp>
        <p:nvSpPr>
          <p:cNvPr id="7" name="rule"/>
          <p:cNvSpPr/>
          <p:nvPr/>
        </p:nvSpPr>
        <p:spPr>
          <a:xfrm>
            <a:off x="411480" y="1965960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8" name="row no"/>
          <p:cNvSpPr txBox="1"/>
          <p:nvPr/>
        </p:nvSpPr>
        <p:spPr>
          <a:xfrm>
            <a:off x="411480" y="200253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row text"/>
          <p:cNvSpPr txBox="1"/>
          <p:nvPr/>
        </p:nvSpPr>
        <p:spPr>
          <a:xfrm>
            <a:off x="822960" y="2002536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if / else selection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LuxuryRoom vs Room object based on the choice</a:t>
            </a:r>
            <a:endParaRPr lang="en-US" sz="1250" dirty="0"/>
          </a:p>
        </p:txBody>
      </p:sp>
      <p:sp>
        <p:nvSpPr>
          <p:cNvPr id="10" name="rule"/>
          <p:cNvSpPr/>
          <p:nvPr/>
        </p:nvSpPr>
        <p:spPr>
          <a:xfrm>
            <a:off x="411480" y="2596896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1" name="row no"/>
          <p:cNvSpPr txBox="1"/>
          <p:nvPr/>
        </p:nvSpPr>
        <p:spPr>
          <a:xfrm>
            <a:off x="411480" y="2633472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row text"/>
          <p:cNvSpPr txBox="1"/>
          <p:nvPr/>
        </p:nvSpPr>
        <p:spPr>
          <a:xfrm>
            <a:off x="822960" y="2633472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while loop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re-prompts until the room choice is between 1 and 4</a:t>
            </a:r>
            <a:endParaRPr lang="en-US" sz="1250" dirty="0"/>
          </a:p>
        </p:txBody>
      </p:sp>
      <p:sp>
        <p:nvSpPr>
          <p:cNvPr id="13" name="rule"/>
          <p:cNvSpPr/>
          <p:nvPr/>
        </p:nvSpPr>
        <p:spPr>
          <a:xfrm>
            <a:off x="411480" y="3227832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4" name="row no"/>
          <p:cNvSpPr txBox="1"/>
          <p:nvPr/>
        </p:nvSpPr>
        <p:spPr>
          <a:xfrm>
            <a:off x="411480" y="3264408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row text"/>
          <p:cNvSpPr txBox="1"/>
          <p:nvPr/>
        </p:nvSpPr>
        <p:spPr>
          <a:xfrm>
            <a:off x="822960" y="3264408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for loop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prints the numbered room menu from the arrays</a:t>
            </a:r>
            <a:endParaRPr lang="en-US" sz="1250" dirty="0"/>
          </a:p>
        </p:txBody>
      </p:sp>
      <p:sp>
        <p:nvSpPr>
          <p:cNvPr id="16" name="rule"/>
          <p:cNvSpPr/>
          <p:nvPr/>
        </p:nvSpPr>
        <p:spPr>
          <a:xfrm>
            <a:off x="411480" y="3858768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7" name="row no"/>
          <p:cNvSpPr txBox="1"/>
          <p:nvPr/>
        </p:nvSpPr>
        <p:spPr>
          <a:xfrm>
            <a:off x="411480" y="3895344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row text"/>
          <p:cNvSpPr txBox="1"/>
          <p:nvPr/>
        </p:nvSpPr>
        <p:spPr>
          <a:xfrm>
            <a:off x="822960" y="3895344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Early return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stops the program when days &lt;= 0</a:t>
            </a:r>
            <a:endParaRPr lang="en-US" sz="1250" dirty="0"/>
          </a:p>
        </p:txBody>
      </p:sp>
      <p:sp>
        <p:nvSpPr>
          <p:cNvPr id="19" name="label FROM THE CODE"/>
          <p:cNvSpPr txBox="1"/>
          <p:nvPr/>
        </p:nvSpPr>
        <p:spPr>
          <a:xfrm>
            <a:off x="438912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CODE</a:t>
            </a:r>
            <a:endParaRPr lang="en-US" sz="900" dirty="0"/>
          </a:p>
        </p:txBody>
      </p:sp>
      <p:sp>
        <p:nvSpPr>
          <p:cNvPr id="20" name="code card"/>
          <p:cNvSpPr/>
          <p:nvPr/>
        </p:nvSpPr>
        <p:spPr>
          <a:xfrm>
            <a:off x="4389120" y="1371600"/>
            <a:ext cx="4343400" cy="255117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code"/>
          <p:cNvSpPr txBox="1"/>
          <p:nvPr/>
        </p:nvSpPr>
        <p:spPr>
          <a:xfrm>
            <a:off x="4526280" y="1481328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(aadhar.length() != 12)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System.out.println("Invalid Aadhar number.");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roomTypes.length;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System.out.println((i + 1) + ". 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roomTypes[i] + " - Rs." + roomPrices[i]);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(choice &lt; 1 || choice &gt; 4)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System.out.print("Invalid. Choose again: 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choice = sc.nextInt();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 3 Topics — Methods &amp; Arrays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3 · MODULE 3</a:t>
            </a:r>
            <a:endParaRPr lang="en-US" sz="800" dirty="0"/>
          </a:p>
        </p:txBody>
      </p:sp>
      <p:sp>
        <p:nvSpPr>
          <p:cNvPr id="4" name="label TOPICS USED IN THE PROJECT"/>
          <p:cNvSpPr txBox="1"/>
          <p:nvPr/>
        </p:nvSpPr>
        <p:spPr>
          <a:xfrm>
            <a:off x="41148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TOPICS USED IN THE PROJECT</a:t>
            </a:r>
            <a:endParaRPr lang="en-US" sz="900" dirty="0"/>
          </a:p>
        </p:txBody>
      </p:sp>
      <p:sp>
        <p:nvSpPr>
          <p:cNvPr id="5" name="row no"/>
          <p:cNvSpPr txBox="1"/>
          <p:nvPr/>
        </p:nvSpPr>
        <p:spPr>
          <a:xfrm>
            <a:off x="411480" y="1371600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row text"/>
          <p:cNvSpPr txBox="1"/>
          <p:nvPr/>
        </p:nvSpPr>
        <p:spPr>
          <a:xfrm>
            <a:off x="822960" y="137160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Method definition &amp; invocation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calculateBill() defined in Room, called from main</a:t>
            </a:r>
            <a:endParaRPr lang="en-US" sz="1250" dirty="0"/>
          </a:p>
        </p:txBody>
      </p:sp>
      <p:sp>
        <p:nvSpPr>
          <p:cNvPr id="7" name="rule"/>
          <p:cNvSpPr/>
          <p:nvPr/>
        </p:nvSpPr>
        <p:spPr>
          <a:xfrm>
            <a:off x="411480" y="1965960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8" name="row no"/>
          <p:cNvSpPr txBox="1"/>
          <p:nvPr/>
        </p:nvSpPr>
        <p:spPr>
          <a:xfrm>
            <a:off x="411480" y="200253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row text"/>
          <p:cNvSpPr txBox="1"/>
          <p:nvPr/>
        </p:nvSpPr>
        <p:spPr>
          <a:xfrm>
            <a:off x="822960" y="2002536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Parameters &amp; return values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takes int days, returns double</a:t>
            </a:r>
            <a:endParaRPr lang="en-US" sz="1250" dirty="0"/>
          </a:p>
        </p:txBody>
      </p:sp>
      <p:sp>
        <p:nvSpPr>
          <p:cNvPr id="10" name="rule"/>
          <p:cNvSpPr/>
          <p:nvPr/>
        </p:nvSpPr>
        <p:spPr>
          <a:xfrm>
            <a:off x="411480" y="2596896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1" name="row no"/>
          <p:cNvSpPr txBox="1"/>
          <p:nvPr/>
        </p:nvSpPr>
        <p:spPr>
          <a:xfrm>
            <a:off x="411480" y="2633472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row text"/>
          <p:cNvSpPr txBox="1"/>
          <p:nvPr/>
        </p:nvSpPr>
        <p:spPr>
          <a:xfrm>
            <a:off x="822960" y="2633472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Method overloading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calculateBill(days) and calculateBill(days, discount)</a:t>
            </a:r>
            <a:endParaRPr lang="en-US" sz="1250" dirty="0"/>
          </a:p>
        </p:txBody>
      </p:sp>
      <p:sp>
        <p:nvSpPr>
          <p:cNvPr id="13" name="rule"/>
          <p:cNvSpPr/>
          <p:nvPr/>
        </p:nvSpPr>
        <p:spPr>
          <a:xfrm>
            <a:off x="411480" y="3227832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4" name="row no"/>
          <p:cNvSpPr txBox="1"/>
          <p:nvPr/>
        </p:nvSpPr>
        <p:spPr>
          <a:xfrm>
            <a:off x="411480" y="3264408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row text"/>
          <p:cNvSpPr txBox="1"/>
          <p:nvPr/>
        </p:nvSpPr>
        <p:spPr>
          <a:xfrm>
            <a:off x="822960" y="3264408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1D arrays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roomTypes[] and roomPrices[] hold the menu data</a:t>
            </a:r>
            <a:endParaRPr lang="en-US" sz="1250" dirty="0"/>
          </a:p>
        </p:txBody>
      </p:sp>
      <p:sp>
        <p:nvSpPr>
          <p:cNvPr id="16" name="rule"/>
          <p:cNvSpPr/>
          <p:nvPr/>
        </p:nvSpPr>
        <p:spPr>
          <a:xfrm>
            <a:off x="411480" y="3858768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7" name="row no"/>
          <p:cNvSpPr txBox="1"/>
          <p:nvPr/>
        </p:nvSpPr>
        <p:spPr>
          <a:xfrm>
            <a:off x="411480" y="3895344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row text"/>
          <p:cNvSpPr txBox="1"/>
          <p:nvPr/>
        </p:nvSpPr>
        <p:spPr>
          <a:xfrm>
            <a:off x="822960" y="3895344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Array traversal &amp; indexing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roomTypes[choice - 1] picks the selected room</a:t>
            </a:r>
            <a:endParaRPr lang="en-US" sz="1250" dirty="0"/>
          </a:p>
        </p:txBody>
      </p:sp>
      <p:sp>
        <p:nvSpPr>
          <p:cNvPr id="19" name="label FROM THE CODE"/>
          <p:cNvSpPr txBox="1"/>
          <p:nvPr/>
        </p:nvSpPr>
        <p:spPr>
          <a:xfrm>
            <a:off x="438912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CODE</a:t>
            </a:r>
            <a:endParaRPr lang="en-US" sz="900" dirty="0"/>
          </a:p>
        </p:txBody>
      </p:sp>
      <p:sp>
        <p:nvSpPr>
          <p:cNvPr id="20" name="code card"/>
          <p:cNvSpPr/>
          <p:nvPr/>
        </p:nvSpPr>
        <p:spPr>
          <a:xfrm>
            <a:off x="4389120" y="1371600"/>
            <a:ext cx="4343400" cy="255117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code"/>
          <p:cNvSpPr txBox="1"/>
          <p:nvPr/>
        </p:nvSpPr>
        <p:spPr>
          <a:xfrm>
            <a:off x="4526280" y="1481328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roomTypes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{"Basic", "Luxury", "Delux", "Platinum"};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roomPrices = {1500, 2000, 2700, 4000};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Method overloading: same 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different parameter lists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calculateBill(int days)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price * days;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calculateBill(int days, int discount)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price * days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* (100 - discount) / 100.0;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 4 Topics — OOP &amp; Inheritance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4 · MODULE 4</a:t>
            </a:r>
            <a:endParaRPr lang="en-US" sz="800" dirty="0"/>
          </a:p>
        </p:txBody>
      </p:sp>
      <p:sp>
        <p:nvSpPr>
          <p:cNvPr id="4" name="label TOPICS USED IN THE PROJECT"/>
          <p:cNvSpPr txBox="1"/>
          <p:nvPr/>
        </p:nvSpPr>
        <p:spPr>
          <a:xfrm>
            <a:off x="41148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TOPICS USED IN THE PROJECT</a:t>
            </a:r>
            <a:endParaRPr lang="en-US" sz="900" dirty="0"/>
          </a:p>
        </p:txBody>
      </p:sp>
      <p:sp>
        <p:nvSpPr>
          <p:cNvPr id="5" name="row no"/>
          <p:cNvSpPr txBox="1"/>
          <p:nvPr/>
        </p:nvSpPr>
        <p:spPr>
          <a:xfrm>
            <a:off x="411480" y="1371600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row text"/>
          <p:cNvSpPr txBox="1"/>
          <p:nvPr/>
        </p:nvSpPr>
        <p:spPr>
          <a:xfrm>
            <a:off x="822960" y="137160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Classes &amp; objects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Room class; room object created in main</a:t>
            </a:r>
            <a:endParaRPr lang="en-US" sz="1250" dirty="0"/>
          </a:p>
        </p:txBody>
      </p:sp>
      <p:sp>
        <p:nvSpPr>
          <p:cNvPr id="7" name="rule"/>
          <p:cNvSpPr/>
          <p:nvPr/>
        </p:nvSpPr>
        <p:spPr>
          <a:xfrm>
            <a:off x="411480" y="1965960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8" name="row no"/>
          <p:cNvSpPr txBox="1"/>
          <p:nvPr/>
        </p:nvSpPr>
        <p:spPr>
          <a:xfrm>
            <a:off x="411480" y="200253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row text"/>
          <p:cNvSpPr txBox="1"/>
          <p:nvPr/>
        </p:nvSpPr>
        <p:spPr>
          <a:xfrm>
            <a:off x="822960" y="2002536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Parameterized constructor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Room(String type, int price) with this keyword</a:t>
            </a:r>
            <a:endParaRPr lang="en-US" sz="1250" dirty="0"/>
          </a:p>
        </p:txBody>
      </p:sp>
      <p:sp>
        <p:nvSpPr>
          <p:cNvPr id="10" name="rule"/>
          <p:cNvSpPr/>
          <p:nvPr/>
        </p:nvSpPr>
        <p:spPr>
          <a:xfrm>
            <a:off x="411480" y="2596896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1" name="row no"/>
          <p:cNvSpPr txBox="1"/>
          <p:nvPr/>
        </p:nvSpPr>
        <p:spPr>
          <a:xfrm>
            <a:off x="411480" y="2633472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row text"/>
          <p:cNvSpPr txBox="1"/>
          <p:nvPr/>
        </p:nvSpPr>
        <p:spPr>
          <a:xfrm>
            <a:off x="822960" y="2633472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Inheritance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class LuxuryRoom extends Room, calls super(...)</a:t>
            </a:r>
            <a:endParaRPr lang="en-US" sz="1250" dirty="0"/>
          </a:p>
        </p:txBody>
      </p:sp>
      <p:sp>
        <p:nvSpPr>
          <p:cNvPr id="13" name="rule"/>
          <p:cNvSpPr/>
          <p:nvPr/>
        </p:nvSpPr>
        <p:spPr>
          <a:xfrm>
            <a:off x="411480" y="3227832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4" name="row no"/>
          <p:cNvSpPr txBox="1"/>
          <p:nvPr/>
        </p:nvSpPr>
        <p:spPr>
          <a:xfrm>
            <a:off x="411480" y="3264408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row text"/>
          <p:cNvSpPr txBox="1"/>
          <p:nvPr/>
        </p:nvSpPr>
        <p:spPr>
          <a:xfrm>
            <a:off x="822960" y="3264408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Method overriding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@Override calculateBill() applies 10% discount</a:t>
            </a:r>
            <a:endParaRPr lang="en-US" sz="1250" dirty="0"/>
          </a:p>
        </p:txBody>
      </p:sp>
      <p:sp>
        <p:nvSpPr>
          <p:cNvPr id="16" name="rule"/>
          <p:cNvSpPr/>
          <p:nvPr/>
        </p:nvSpPr>
        <p:spPr>
          <a:xfrm>
            <a:off x="411480" y="3858768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7" name="row no"/>
          <p:cNvSpPr txBox="1"/>
          <p:nvPr/>
        </p:nvSpPr>
        <p:spPr>
          <a:xfrm>
            <a:off x="411480" y="3895344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row text"/>
          <p:cNvSpPr txBox="1"/>
          <p:nvPr/>
        </p:nvSpPr>
        <p:spPr>
          <a:xfrm>
            <a:off x="822960" y="3895344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Runtime polymorphism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Room room = new LuxuryRoom(); picks the override</a:t>
            </a:r>
            <a:endParaRPr lang="en-US" sz="1250" dirty="0"/>
          </a:p>
        </p:txBody>
      </p:sp>
      <p:sp>
        <p:nvSpPr>
          <p:cNvPr id="19" name="label FROM THE CODE"/>
          <p:cNvSpPr txBox="1"/>
          <p:nvPr/>
        </p:nvSpPr>
        <p:spPr>
          <a:xfrm>
            <a:off x="438912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CODE</a:t>
            </a:r>
            <a:endParaRPr lang="en-US" sz="900" dirty="0"/>
          </a:p>
        </p:txBody>
      </p:sp>
      <p:sp>
        <p:nvSpPr>
          <p:cNvPr id="20" name="code card"/>
          <p:cNvSpPr/>
          <p:nvPr/>
        </p:nvSpPr>
        <p:spPr>
          <a:xfrm>
            <a:off x="4389120" y="1371600"/>
            <a:ext cx="4343400" cy="277215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code"/>
          <p:cNvSpPr txBox="1"/>
          <p:nvPr/>
        </p:nvSpPr>
        <p:spPr>
          <a:xfrm>
            <a:off x="4526280" y="1481328"/>
            <a:ext cx="406908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Room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type;  int price;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Room(String type, int price)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this.type = type;  this.price = price;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calculateBill(int days)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price * days;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LuxuryRoom extends Room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LuxuryRoom() { super("Luxury", 2000);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calculateBill(int days)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price * days * 0.9;   // 10% off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 5 Topics — Strings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5 · MODULE 5</a:t>
            </a:r>
            <a:endParaRPr lang="en-US" sz="800" dirty="0"/>
          </a:p>
        </p:txBody>
      </p:sp>
      <p:sp>
        <p:nvSpPr>
          <p:cNvPr id="4" name="label TOPICS USED IN THE PROJECT"/>
          <p:cNvSpPr txBox="1"/>
          <p:nvPr/>
        </p:nvSpPr>
        <p:spPr>
          <a:xfrm>
            <a:off x="41148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TOPICS USED IN THE PROJECT</a:t>
            </a:r>
            <a:endParaRPr lang="en-US" sz="900" dirty="0"/>
          </a:p>
        </p:txBody>
      </p:sp>
      <p:sp>
        <p:nvSpPr>
          <p:cNvPr id="5" name="row no"/>
          <p:cNvSpPr txBox="1"/>
          <p:nvPr/>
        </p:nvSpPr>
        <p:spPr>
          <a:xfrm>
            <a:off x="411480" y="1371600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row text"/>
          <p:cNvSpPr txBox="1"/>
          <p:nvPr/>
        </p:nvSpPr>
        <p:spPr>
          <a:xfrm>
            <a:off x="822960" y="137160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String objects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name and aadhar read with nextLine()</a:t>
            </a:r>
            <a:endParaRPr lang="en-US" sz="1250" dirty="0"/>
          </a:p>
        </p:txBody>
      </p:sp>
      <p:sp>
        <p:nvSpPr>
          <p:cNvPr id="7" name="rule"/>
          <p:cNvSpPr/>
          <p:nvPr/>
        </p:nvSpPr>
        <p:spPr>
          <a:xfrm>
            <a:off x="411480" y="1965960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8" name="row no"/>
          <p:cNvSpPr txBox="1"/>
          <p:nvPr/>
        </p:nvSpPr>
        <p:spPr>
          <a:xfrm>
            <a:off x="411480" y="200253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row text"/>
          <p:cNvSpPr txBox="1"/>
          <p:nvPr/>
        </p:nvSpPr>
        <p:spPr>
          <a:xfrm>
            <a:off x="822960" y="2002536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length()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validates the 12-digit Aadhaar number</a:t>
            </a:r>
            <a:endParaRPr lang="en-US" sz="1250" dirty="0"/>
          </a:p>
        </p:txBody>
      </p:sp>
      <p:sp>
        <p:nvSpPr>
          <p:cNvPr id="10" name="rule"/>
          <p:cNvSpPr/>
          <p:nvPr/>
        </p:nvSpPr>
        <p:spPr>
          <a:xfrm>
            <a:off x="411480" y="2596896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1" name="row no"/>
          <p:cNvSpPr txBox="1"/>
          <p:nvPr/>
        </p:nvSpPr>
        <p:spPr>
          <a:xfrm>
            <a:off x="411480" y="2633472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row text"/>
          <p:cNvSpPr txBox="1"/>
          <p:nvPr/>
        </p:nvSpPr>
        <p:spPr>
          <a:xfrm>
            <a:off x="822960" y="2633472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toUpperCase()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prints the guest name in capitals in the summary</a:t>
            </a:r>
            <a:endParaRPr lang="en-US" sz="1250" dirty="0"/>
          </a:p>
        </p:txBody>
      </p:sp>
      <p:sp>
        <p:nvSpPr>
          <p:cNvPr id="13" name="rule"/>
          <p:cNvSpPr/>
          <p:nvPr/>
        </p:nvSpPr>
        <p:spPr>
          <a:xfrm>
            <a:off x="411480" y="3227832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4" name="row no"/>
          <p:cNvSpPr txBox="1"/>
          <p:nvPr/>
        </p:nvSpPr>
        <p:spPr>
          <a:xfrm>
            <a:off x="411480" y="3264408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row text"/>
          <p:cNvSpPr txBox="1"/>
          <p:nvPr/>
        </p:nvSpPr>
        <p:spPr>
          <a:xfrm>
            <a:off x="822960" y="3264408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Concatenation (+)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builds menu lines and summary rows</a:t>
            </a:r>
            <a:endParaRPr lang="en-US" sz="1250" dirty="0"/>
          </a:p>
        </p:txBody>
      </p:sp>
      <p:sp>
        <p:nvSpPr>
          <p:cNvPr id="16" name="rule"/>
          <p:cNvSpPr/>
          <p:nvPr/>
        </p:nvSpPr>
        <p:spPr>
          <a:xfrm>
            <a:off x="411480" y="3858768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7" name="row no"/>
          <p:cNvSpPr txBox="1"/>
          <p:nvPr/>
        </p:nvSpPr>
        <p:spPr>
          <a:xfrm>
            <a:off x="411480" y="3895344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row text"/>
          <p:cNvSpPr txBox="1"/>
          <p:nvPr/>
        </p:nvSpPr>
        <p:spPr>
          <a:xfrm>
            <a:off x="822960" y="3895344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Immutability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toUpperCase() returns a new String; name is unchanged</a:t>
            </a:r>
            <a:endParaRPr lang="en-US" sz="1250" dirty="0"/>
          </a:p>
        </p:txBody>
      </p:sp>
      <p:sp>
        <p:nvSpPr>
          <p:cNvPr id="19" name="label FROM THE CODE"/>
          <p:cNvSpPr txBox="1"/>
          <p:nvPr/>
        </p:nvSpPr>
        <p:spPr>
          <a:xfrm>
            <a:off x="438912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CODE</a:t>
            </a:r>
            <a:endParaRPr lang="en-US" sz="900" dirty="0"/>
          </a:p>
        </p:txBody>
      </p:sp>
      <p:sp>
        <p:nvSpPr>
          <p:cNvPr id="20" name="code card"/>
          <p:cNvSpPr/>
          <p:nvPr/>
        </p:nvSpPr>
        <p:spPr>
          <a:xfrm>
            <a:off x="4389120" y="1371600"/>
            <a:ext cx="4343400" cy="207111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code"/>
          <p:cNvSpPr txBox="1"/>
          <p:nvPr/>
        </p:nvSpPr>
        <p:spPr>
          <a:xfrm>
            <a:off x="4526280" y="1481328"/>
            <a:ext cx="4069080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aadhar = sc.nextLine();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(aadhar.length() != 12)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System.out.println("Invalid Aadhar number.");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System.out.println("Name      : 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+ name.toUpperCase());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System.out.println("Room      : " + room.type);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System.out.println("Total Bill: Rs." + bill);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 6 Topics — Exception Handling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6 · MODULE 6</a:t>
            </a:r>
            <a:endParaRPr lang="en-US" sz="800" dirty="0"/>
          </a:p>
        </p:txBody>
      </p:sp>
      <p:sp>
        <p:nvSpPr>
          <p:cNvPr id="4" name="label TOPICS USED IN THE PROJECT"/>
          <p:cNvSpPr txBox="1"/>
          <p:nvPr/>
        </p:nvSpPr>
        <p:spPr>
          <a:xfrm>
            <a:off x="41148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TOPICS USED IN THE PROJECT</a:t>
            </a:r>
            <a:endParaRPr lang="en-US" sz="900" dirty="0"/>
          </a:p>
        </p:txBody>
      </p:sp>
      <p:sp>
        <p:nvSpPr>
          <p:cNvPr id="5" name="row no"/>
          <p:cNvSpPr txBox="1"/>
          <p:nvPr/>
        </p:nvSpPr>
        <p:spPr>
          <a:xfrm>
            <a:off x="411480" y="1371600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row text"/>
          <p:cNvSpPr txBox="1"/>
          <p:nvPr/>
        </p:nvSpPr>
        <p:spPr>
          <a:xfrm>
            <a:off x="822960" y="1371600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try block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wraps all user input and billing logic</a:t>
            </a:r>
            <a:endParaRPr lang="en-US" sz="1250" dirty="0"/>
          </a:p>
        </p:txBody>
      </p:sp>
      <p:sp>
        <p:nvSpPr>
          <p:cNvPr id="7" name="rule"/>
          <p:cNvSpPr/>
          <p:nvPr/>
        </p:nvSpPr>
        <p:spPr>
          <a:xfrm>
            <a:off x="411480" y="1965960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8" name="row no"/>
          <p:cNvSpPr txBox="1"/>
          <p:nvPr/>
        </p:nvSpPr>
        <p:spPr>
          <a:xfrm>
            <a:off x="411480" y="2002536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row text"/>
          <p:cNvSpPr txBox="1"/>
          <p:nvPr/>
        </p:nvSpPr>
        <p:spPr>
          <a:xfrm>
            <a:off x="822960" y="2002536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catch InputMismatchException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text typed where a number is expected</a:t>
            </a:r>
            <a:endParaRPr lang="en-US" sz="1250" dirty="0"/>
          </a:p>
        </p:txBody>
      </p:sp>
      <p:sp>
        <p:nvSpPr>
          <p:cNvPr id="10" name="rule"/>
          <p:cNvSpPr/>
          <p:nvPr/>
        </p:nvSpPr>
        <p:spPr>
          <a:xfrm>
            <a:off x="411480" y="2596896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1" name="row no"/>
          <p:cNvSpPr txBox="1"/>
          <p:nvPr/>
        </p:nvSpPr>
        <p:spPr>
          <a:xfrm>
            <a:off x="411480" y="2633472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row text"/>
          <p:cNvSpPr txBox="1"/>
          <p:nvPr/>
        </p:nvSpPr>
        <p:spPr>
          <a:xfrm>
            <a:off x="822960" y="2633472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Graceful recovery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friendly error message instead of a crash</a:t>
            </a:r>
            <a:endParaRPr lang="en-US" sz="1250" dirty="0"/>
          </a:p>
        </p:txBody>
      </p:sp>
      <p:sp>
        <p:nvSpPr>
          <p:cNvPr id="13" name="rule"/>
          <p:cNvSpPr/>
          <p:nvPr/>
        </p:nvSpPr>
        <p:spPr>
          <a:xfrm>
            <a:off x="411480" y="3227832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4" name="row no"/>
          <p:cNvSpPr txBox="1"/>
          <p:nvPr/>
        </p:nvSpPr>
        <p:spPr>
          <a:xfrm>
            <a:off x="411480" y="3264408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row text"/>
          <p:cNvSpPr txBox="1"/>
          <p:nvPr/>
        </p:nvSpPr>
        <p:spPr>
          <a:xfrm>
            <a:off x="822960" y="3264408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Resource management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sc.close() releases the Scanner</a:t>
            </a:r>
            <a:endParaRPr lang="en-US" sz="1250" dirty="0"/>
          </a:p>
        </p:txBody>
      </p:sp>
      <p:sp>
        <p:nvSpPr>
          <p:cNvPr id="16" name="rule"/>
          <p:cNvSpPr/>
          <p:nvPr/>
        </p:nvSpPr>
        <p:spPr>
          <a:xfrm>
            <a:off x="411480" y="3858768"/>
            <a:ext cx="393192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17" name="row no"/>
          <p:cNvSpPr txBox="1"/>
          <p:nvPr/>
        </p:nvSpPr>
        <p:spPr>
          <a:xfrm>
            <a:off x="411480" y="3895344"/>
            <a:ext cx="411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row text"/>
          <p:cNvSpPr txBox="1"/>
          <p:nvPr/>
        </p:nvSpPr>
        <p:spPr>
          <a:xfrm>
            <a:off x="822960" y="3895344"/>
            <a:ext cx="3520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Validation vs exceptions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if-checks for logic errors, catch for runtime errors</a:t>
            </a:r>
            <a:endParaRPr lang="en-US" sz="1250" dirty="0"/>
          </a:p>
        </p:txBody>
      </p:sp>
      <p:sp>
        <p:nvSpPr>
          <p:cNvPr id="19" name="label FROM THE CODE"/>
          <p:cNvSpPr txBox="1"/>
          <p:nvPr/>
        </p:nvSpPr>
        <p:spPr>
          <a:xfrm>
            <a:off x="438912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CODE</a:t>
            </a:r>
            <a:endParaRPr lang="en-US" sz="900" dirty="0"/>
          </a:p>
        </p:txBody>
      </p:sp>
      <p:sp>
        <p:nvSpPr>
          <p:cNvPr id="20" name="code card"/>
          <p:cNvSpPr/>
          <p:nvPr/>
        </p:nvSpPr>
        <p:spPr>
          <a:xfrm>
            <a:off x="4389120" y="1371600"/>
            <a:ext cx="4343400" cy="239115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code"/>
          <p:cNvSpPr txBox="1"/>
          <p:nvPr/>
        </p:nvSpPr>
        <p:spPr>
          <a:xfrm>
            <a:off x="4526280" y="1481328"/>
            <a:ext cx="406908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java.util.InputMismatchException;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System.out.print("Number of days: 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days = sc.nextInt();   // may throw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bill = room.calculateBill(days);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(InputMismatchException e)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"Error: Please enter numbers only.");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sc.close();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 10</a:t>
            </a:r>
            <a:endParaRPr lang="en-US" sz="800" dirty="0"/>
          </a:p>
        </p:txBody>
      </p:sp>
      <p:sp>
        <p:nvSpPr>
          <p:cNvPr id="4" name="label WHAT WE BUILT"/>
          <p:cNvSpPr txBox="1"/>
          <p:nvPr/>
        </p:nvSpPr>
        <p:spPr>
          <a:xfrm>
            <a:off x="41148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900" dirty="0"/>
          </a:p>
        </p:txBody>
      </p:sp>
      <p:sp>
        <p:nvSpPr>
          <p:cNvPr id="5" name="conclusion text"/>
          <p:cNvSpPr txBox="1"/>
          <p:nvPr/>
        </p:nvSpPr>
        <p:spPr>
          <a:xfrm>
            <a:off x="411480" y="13258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Hotel Booking Occupancy Manager turns the whole PSPJ syllabus into one working program. A guest is registered, validated and billed in a few steps, and every course outcome — from Scanner input and loops to inheritance, Strings and exception handling — is exercised by real code rather than isolated examples.</a:t>
            </a:r>
            <a:endParaRPr lang="en-US" sz="1250" dirty="0"/>
          </a:p>
        </p:txBody>
      </p:sp>
      <p:sp>
        <p:nvSpPr>
          <p:cNvPr id="6" name="label KEY LEARNINGS"/>
          <p:cNvSpPr txBox="1"/>
          <p:nvPr/>
        </p:nvSpPr>
        <p:spPr>
          <a:xfrm>
            <a:off x="41148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LEARNINGS</a:t>
            </a:r>
            <a:endParaRPr lang="en-US" sz="900" dirty="0"/>
          </a:p>
        </p:txBody>
      </p:sp>
      <p:sp>
        <p:nvSpPr>
          <p:cNvPr id="7" name="bullets"/>
          <p:cNvSpPr txBox="1"/>
          <p:nvPr/>
        </p:nvSpPr>
        <p:spPr>
          <a:xfrm>
            <a:off x="411480" y="3246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Overriding lets a subclass change behaviour without touching the parent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Validating input early keeps the billing logic simple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chemeClr val="tx1"/>
                </a:solidFill>
              </a:rPr>
              <a:t>try/catch protects the program from unexpected user input</a:t>
            </a:r>
            <a:endParaRPr lang="en-US" sz="1150" dirty="0"/>
          </a:p>
        </p:txBody>
      </p:sp>
      <p:sp>
        <p:nvSpPr>
          <p:cNvPr id="8" name="label FUTURE SCOPE"/>
          <p:cNvSpPr txBox="1"/>
          <p:nvPr/>
        </p:nvSpPr>
        <p:spPr>
          <a:xfrm>
            <a:off x="498348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9" name="future card"/>
          <p:cNvSpPr/>
          <p:nvPr/>
        </p:nvSpPr>
        <p:spPr>
          <a:xfrm>
            <a:off x="4983480" y="1399032"/>
            <a:ext cx="3749040" cy="5120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future head"/>
          <p:cNvSpPr txBox="1"/>
          <p:nvPr/>
        </p:nvSpPr>
        <p:spPr>
          <a:xfrm>
            <a:off x="5120640" y="13990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Live occupancy</a:t>
            </a:r>
            <a:endParaRPr lang="en-US" sz="1200" dirty="0"/>
          </a:p>
        </p:txBody>
      </p:sp>
      <p:sp>
        <p:nvSpPr>
          <p:cNvPr id="11" name="future detail"/>
          <p:cNvSpPr txBox="1"/>
          <p:nvPr/>
        </p:nvSpPr>
        <p:spPr>
          <a:xfrm>
            <a:off x="6492240" y="13990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track which rooms are free or booked</a:t>
            </a:r>
            <a:endParaRPr lang="en-US" sz="1050" dirty="0"/>
          </a:p>
        </p:txBody>
      </p:sp>
      <p:sp>
        <p:nvSpPr>
          <p:cNvPr id="12" name="future card"/>
          <p:cNvSpPr/>
          <p:nvPr/>
        </p:nvSpPr>
        <p:spPr>
          <a:xfrm>
            <a:off x="4983480" y="2020824"/>
            <a:ext cx="3749040" cy="5120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future head"/>
          <p:cNvSpPr txBox="1"/>
          <p:nvPr/>
        </p:nvSpPr>
        <p:spPr>
          <a:xfrm>
            <a:off x="5120640" y="202082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Dates</a:t>
            </a:r>
            <a:endParaRPr lang="en-US" sz="1200" dirty="0"/>
          </a:p>
        </p:txBody>
      </p:sp>
      <p:sp>
        <p:nvSpPr>
          <p:cNvPr id="14" name="future detail"/>
          <p:cNvSpPr txBox="1"/>
          <p:nvPr/>
        </p:nvSpPr>
        <p:spPr>
          <a:xfrm>
            <a:off x="6492240" y="20208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check-in / check-out and date overlap checks</a:t>
            </a:r>
            <a:endParaRPr lang="en-US" sz="1050" dirty="0"/>
          </a:p>
        </p:txBody>
      </p:sp>
      <p:sp>
        <p:nvSpPr>
          <p:cNvPr id="15" name="future card"/>
          <p:cNvSpPr/>
          <p:nvPr/>
        </p:nvSpPr>
        <p:spPr>
          <a:xfrm>
            <a:off x="4983480" y="2642616"/>
            <a:ext cx="3749040" cy="5120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future head"/>
          <p:cNvSpPr txBox="1"/>
          <p:nvPr/>
        </p:nvSpPr>
        <p:spPr>
          <a:xfrm>
            <a:off x="5120640" y="264261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Persistence</a:t>
            </a:r>
            <a:endParaRPr lang="en-US" sz="1200" dirty="0"/>
          </a:p>
        </p:txBody>
      </p:sp>
      <p:sp>
        <p:nvSpPr>
          <p:cNvPr id="17" name="future detail"/>
          <p:cNvSpPr txBox="1"/>
          <p:nvPr/>
        </p:nvSpPr>
        <p:spPr>
          <a:xfrm>
            <a:off x="6492240" y="26426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store bookings in a file or database</a:t>
            </a:r>
            <a:endParaRPr lang="en-US" sz="1050" dirty="0"/>
          </a:p>
        </p:txBody>
      </p:sp>
      <p:sp>
        <p:nvSpPr>
          <p:cNvPr id="18" name="future card"/>
          <p:cNvSpPr/>
          <p:nvPr/>
        </p:nvSpPr>
        <p:spPr>
          <a:xfrm>
            <a:off x="4983480" y="3264408"/>
            <a:ext cx="3749040" cy="5120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future head"/>
          <p:cNvSpPr txBox="1"/>
          <p:nvPr/>
        </p:nvSpPr>
        <p:spPr>
          <a:xfrm>
            <a:off x="5120640" y="32644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Reports</a:t>
            </a:r>
            <a:endParaRPr lang="en-US" sz="1200" dirty="0"/>
          </a:p>
        </p:txBody>
      </p:sp>
      <p:sp>
        <p:nvSpPr>
          <p:cNvPr id="20" name="future detail"/>
          <p:cNvSpPr txBox="1"/>
          <p:nvPr/>
        </p:nvSpPr>
        <p:spPr>
          <a:xfrm>
            <a:off x="6492240" y="326440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daily occupancy and revenue summaries</a:t>
            </a:r>
            <a:endParaRPr lang="en-US" sz="1050" dirty="0"/>
          </a:p>
        </p:txBody>
      </p:sp>
      <p:sp>
        <p:nvSpPr>
          <p:cNvPr id="21" name="future card"/>
          <p:cNvSpPr/>
          <p:nvPr/>
        </p:nvSpPr>
        <p:spPr>
          <a:xfrm>
            <a:off x="4983480" y="3886200"/>
            <a:ext cx="3749040" cy="51206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2" name="future head"/>
          <p:cNvSpPr txBox="1"/>
          <p:nvPr/>
        </p:nvSpPr>
        <p:spPr>
          <a:xfrm>
            <a:off x="5120640" y="38862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Interface</a:t>
            </a:r>
            <a:endParaRPr lang="en-US" sz="1200" dirty="0"/>
          </a:p>
        </p:txBody>
      </p:sp>
      <p:sp>
        <p:nvSpPr>
          <p:cNvPr id="23" name="future detail"/>
          <p:cNvSpPr txBox="1"/>
          <p:nvPr/>
        </p:nvSpPr>
        <p:spPr>
          <a:xfrm>
            <a:off x="6492240" y="388620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move from console to a GUI or web front end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Screen Shots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POSTER</a:t>
            </a:r>
            <a:endParaRPr lang="en-US" sz="800" dirty="0"/>
          </a:p>
        </p:txBody>
      </p:sp>
      <p:pic>
        <p:nvPicPr>
          <p:cNvPr id="4" name="project poster" descr="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04672"/>
            <a:ext cx="2780707" cy="3931920"/>
          </a:xfrm>
          <a:prstGeom prst="rect">
            <a:avLst/>
          </a:prstGeom>
        </p:spPr>
      </p:pic>
      <p:sp>
        <p:nvSpPr>
          <p:cNvPr id="5" name="poster frame"/>
          <p:cNvSpPr/>
          <p:nvPr/>
        </p:nvSpPr>
        <p:spPr>
          <a:xfrm>
            <a:off x="411480" y="804672"/>
            <a:ext cx="2780707" cy="3931920"/>
          </a:xfrm>
          <a:prstGeom prst="rect">
            <a:avLst/>
          </a:prstGeom>
          <a:ln w="9525">
            <a:solidFill>
              <a:schemeClr val="accent2"/>
            </a:solidFill>
            <a:prstDash val="solid"/>
          </a:ln>
        </p:spPr>
      </p:sp>
      <p:sp>
        <p:nvSpPr>
          <p:cNvPr id="6" name="label PROJECT POSTER"/>
          <p:cNvSpPr txBox="1"/>
          <p:nvPr/>
        </p:nvSpPr>
        <p:spPr>
          <a:xfrm>
            <a:off x="3649387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POSTER</a:t>
            </a:r>
            <a:endParaRPr lang="en-US" sz="900" dirty="0"/>
          </a:p>
        </p:txBody>
      </p:sp>
      <p:sp>
        <p:nvSpPr>
          <p:cNvPr id="7" name="poster caption"/>
          <p:cNvSpPr txBox="1"/>
          <p:nvPr/>
        </p:nvSpPr>
        <p:spPr>
          <a:xfrm>
            <a:off x="3649387" y="1325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Hotel Booking Occupancy Manager — Project Based Learning poster for 26SC1101E PSPJ (Section 14, Team 18).</a:t>
            </a:r>
            <a:endParaRPr lang="en-US" sz="1150" dirty="0"/>
          </a:p>
        </p:txBody>
      </p:sp>
      <p:sp>
        <p:nvSpPr>
          <p:cNvPr id="8" name="label SAMPLE CONSOLE RUN"/>
          <p:cNvSpPr txBox="1"/>
          <p:nvPr/>
        </p:nvSpPr>
        <p:spPr>
          <a:xfrm>
            <a:off x="3649387" y="1965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CONSOLE RUN</a:t>
            </a:r>
            <a:endParaRPr lang="en-US" sz="900" dirty="0"/>
          </a:p>
        </p:txBody>
      </p:sp>
      <p:sp>
        <p:nvSpPr>
          <p:cNvPr id="9" name="code card"/>
          <p:cNvSpPr/>
          <p:nvPr/>
        </p:nvSpPr>
        <p:spPr>
          <a:xfrm>
            <a:off x="3649387" y="2240280"/>
            <a:ext cx="5083133" cy="223113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3786547" y="2350008"/>
            <a:ext cx="480881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name: Srijan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Aadhar Card Number (12 digits): 123456789012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days: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Basic - Rs.1500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Luxury - Rs.2000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Delux - Rs.2700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Platinum - Rs.4000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room (1-4):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Booking Summary =====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: SRIJAN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     : Luxury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     :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Bill: Rs.5400.0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80160" y="301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Geo Tag Photo and GitHub Link</a:t>
            </a:r>
            <a:endParaRPr lang="en-US" sz="2200" dirty="0"/>
          </a:p>
        </p:txBody>
      </p:sp>
      <p:sp>
        <p:nvSpPr>
          <p:cNvPr id="3" name="stamp"/>
          <p:cNvSpPr txBox="1"/>
          <p:nvPr/>
        </p:nvSpPr>
        <p:spPr>
          <a:xfrm rot="-120000">
            <a:off x="7086600" y="365760"/>
            <a:ext cx="1691640" cy="329184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 12</a:t>
            </a:r>
            <a:endParaRPr lang="en-US" sz="800" dirty="0"/>
          </a:p>
        </p:txBody>
      </p:sp>
      <p:sp>
        <p:nvSpPr>
          <p:cNvPr id="4" name="geo tag photo placeholder"/>
          <p:cNvSpPr/>
          <p:nvPr/>
        </p:nvSpPr>
        <p:spPr>
          <a:xfrm>
            <a:off x="411480" y="1051560"/>
            <a:ext cx="4754880" cy="3429000"/>
          </a:xfrm>
          <a:prstGeom prst="rect">
            <a:avLst/>
          </a:prstGeom>
          <a:ln w="9525">
            <a:solidFill>
              <a:schemeClr val="accent2"/>
            </a:solidFill>
            <a:prstDash val="dash"/>
          </a:ln>
        </p:spPr>
      </p:sp>
      <p:sp>
        <p:nvSpPr>
          <p:cNvPr id="5" name="label GITHUB REPOSITORY"/>
          <p:cNvSpPr txBox="1"/>
          <p:nvPr/>
        </p:nvSpPr>
        <p:spPr>
          <a:xfrm>
            <a:off x="557784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REPOSITORY</a:t>
            </a:r>
            <a:endParaRPr lang="en-US" sz="900" dirty="0"/>
          </a:p>
        </p:txBody>
      </p:sp>
      <p:sp>
        <p:nvSpPr>
          <p:cNvPr id="6" name="github card"/>
          <p:cNvSpPr/>
          <p:nvPr/>
        </p:nvSpPr>
        <p:spPr>
          <a:xfrm>
            <a:off x="5577840" y="1371600"/>
            <a:ext cx="3154680" cy="11430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repo name"/>
          <p:cNvSpPr txBox="1"/>
          <p:nvPr/>
        </p:nvSpPr>
        <p:spPr>
          <a:xfrm>
            <a:off x="571500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KLH-PSPJAVA-S14-T18</a:t>
            </a:r>
            <a:endParaRPr lang="en-US" sz="1300" dirty="0"/>
          </a:p>
        </p:txBody>
      </p:sp>
      <p:sp>
        <p:nvSpPr>
          <p:cNvPr id="8" name="repo link">
            <a:hlinkClick r:id="rId1" tooltip="Open repository"/>
          </p:cNvPr>
          <p:cNvSpPr txBox="1"/>
          <p:nvPr/>
        </p:nvSpPr>
        <p:spPr>
          <a:xfrm>
            <a:off x="571500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u="sng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1" invalidUrl="" action="" tgtFrame="" tooltip="Open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github.com/Srijannnn-11/KLH-PSPJAVA-S14-T18</a:t>
            </a:r>
            <a:endParaRPr lang="en-US" sz="1050" dirty="0"/>
          </a:p>
        </p:txBody>
      </p:sp>
      <p:sp>
        <p:nvSpPr>
          <p:cNvPr id="9" name="label CONTENTS"/>
          <p:cNvSpPr txBox="1"/>
          <p:nvPr/>
        </p:nvSpPr>
        <p:spPr>
          <a:xfrm>
            <a:off x="5577840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00" dirty="0"/>
          </a:p>
        </p:txBody>
      </p:sp>
      <p:sp>
        <p:nvSpPr>
          <p:cNvPr id="10" name="bullets"/>
          <p:cNvSpPr txBox="1"/>
          <p:nvPr/>
        </p:nvSpPr>
        <p:spPr>
          <a:xfrm>
            <a:off x="5577840" y="30175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</a:rPr>
              <a:t>HotelBookingManagerSystem.java — source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00" dirty="0">
                <a:solidFill>
                  <a:schemeClr val="tx1"/>
                </a:solidFill>
              </a:rPr>
              <a:t>Project poster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ktilo Dispatch">
  <a:themeElements>
    <a:clrScheme name="Daktilo Dispatch">
      <a:dk1>
        <a:srgbClr val="1E1B16"/>
      </a:dk1>
      <a:lt1>
        <a:srgbClr val="F4F0E6"/>
      </a:lt1>
      <a:dk2>
        <a:srgbClr val="6F685C"/>
      </a:dk2>
      <a:lt2>
        <a:srgbClr val="FBF9F3"/>
      </a:lt2>
      <a:accent1>
        <a:srgbClr val="B3261E"/>
      </a:accent1>
      <a:accent2>
        <a:srgbClr val="CFC7B6"/>
      </a:accent2>
      <a:accent3>
        <a:srgbClr val="2F5D50"/>
      </a:accent3>
      <a:accent4>
        <a:srgbClr val="8C847A"/>
      </a:accent4>
      <a:accent5>
        <a:srgbClr val="E8E1D2"/>
      </a:accent5>
      <a:accent6>
        <a:srgbClr val="3A3630"/>
      </a:accent6>
      <a:hlink>
        <a:srgbClr val="B3261E"/>
      </a:hlink>
      <a:folHlink>
        <a:srgbClr val="6F685C"/>
      </a:folHlink>
    </a:clrScheme>
    <a:fontScheme name="Daktilo Dispatch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Occupancy Manager</dc:title>
  <dc:subject>PSPJ Project Based Learning</dc:subject>
  <dc:creator>Srijan, Sudheer</dc:creator>
  <cp:lastModifiedBy>Srijan, Sudheer</cp:lastModifiedBy>
  <cp:revision>1</cp:revision>
  <dcterms:created xsi:type="dcterms:W3CDTF">2026-10-15T16:10:12Z</dcterms:created>
  <dcterms:modified xsi:type="dcterms:W3CDTF">2026-10-15T16:10:12Z</dcterms:modified>
</cp:coreProperties>
</file>